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88ae7951024c29" /><Relationship Type="http://schemas.openxmlformats.org/officeDocument/2006/relationships/extended-properties" Target="/docProps/app.xml" Id="Re8b4a85031344fe9" /><Relationship Type="http://schemas.openxmlformats.org/officeDocument/2006/relationships/officeDocument" Target="/ppt/presentation.xml" Id="R1c8cafa425ca47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7529f7f7924531"/>
  </p:sldMasterIdLst>
  <p:notesMasterIdLst>
    <p:notesMasterId xmlns:r="http://schemas.openxmlformats.org/officeDocument/2006/relationships" r:id="Re7a01a4f7ccc4f66"/>
  </p:notesMasterIdLst>
  <p:sldIdLst>
    <p:sldId xmlns:r="http://schemas.openxmlformats.org/officeDocument/2006/relationships" id="256" r:id="R765e577b40a14604"/>
    <p:sldId xmlns:r="http://schemas.openxmlformats.org/officeDocument/2006/relationships" id="257" r:id="R3aaa92e45e3c4e22"/>
    <p:sldId xmlns:r="http://schemas.openxmlformats.org/officeDocument/2006/relationships" id="258" r:id="Rdec273bfb9984fb9"/>
    <p:sldId xmlns:r="http://schemas.openxmlformats.org/officeDocument/2006/relationships" id="259" r:id="Rba6886ed70e64a35"/>
    <p:sldId xmlns:r="http://schemas.openxmlformats.org/officeDocument/2006/relationships" id="260" r:id="R5dfefe8891054565"/>
    <p:sldId xmlns:r="http://schemas.openxmlformats.org/officeDocument/2006/relationships" id="261" r:id="R8f093cb5ed5646a5"/>
    <p:sldId xmlns:r="http://schemas.openxmlformats.org/officeDocument/2006/relationships" id="262" r:id="R1e15c1c6f63a4e97"/>
    <p:sldId xmlns:r="http://schemas.openxmlformats.org/officeDocument/2006/relationships" id="263" r:id="R57138f2f6eeb49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64a677cca4cca" /><Relationship Type="http://schemas.openxmlformats.org/officeDocument/2006/relationships/slideMaster" Target="/ppt/slideMasters/slideMaster1.xml" Id="R737529f7f7924531" /><Relationship Type="http://schemas.openxmlformats.org/officeDocument/2006/relationships/notesMaster" Target="/ppt/notesMasters/notesMaster1.xml" Id="Re7a01a4f7ccc4f66" /><Relationship Type="http://schemas.openxmlformats.org/officeDocument/2006/relationships/presProps" Target="/ppt/presProps.xml" Id="Rea7f31a75d384003" /><Relationship Type="http://schemas.openxmlformats.org/officeDocument/2006/relationships/tableStyles" Target="/ppt/tableStyles.xml" Id="Rb3fcd58768554883" /><Relationship Type="http://schemas.openxmlformats.org/officeDocument/2006/relationships/slide" Target="/ppt/slides/slide1.xml" Id="R765e577b40a14604" /><Relationship Type="http://schemas.openxmlformats.org/officeDocument/2006/relationships/slide" Target="/ppt/slides/slide2.xml" Id="R3aaa92e45e3c4e22" /><Relationship Type="http://schemas.openxmlformats.org/officeDocument/2006/relationships/slide" Target="/ppt/slides/slide3.xml" Id="Rdec273bfb9984fb9" /><Relationship Type="http://schemas.openxmlformats.org/officeDocument/2006/relationships/slide" Target="/ppt/slides/slide4.xml" Id="Rba6886ed70e64a35" /><Relationship Type="http://schemas.openxmlformats.org/officeDocument/2006/relationships/slide" Target="/ppt/slides/slide5.xml" Id="R5dfefe8891054565" /><Relationship Type="http://schemas.openxmlformats.org/officeDocument/2006/relationships/slide" Target="/ppt/slides/slide6.xml" Id="R8f093cb5ed5646a5" /><Relationship Type="http://schemas.openxmlformats.org/officeDocument/2006/relationships/slide" Target="/ppt/slides/slide7.xml" Id="R1e15c1c6f63a4e97" /><Relationship Type="http://schemas.openxmlformats.org/officeDocument/2006/relationships/slide" Target="/ppt/slides/slide8.xml" Id="R57138f2f6eeb49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5ae97a800a45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6f697dae274ff3" /><Relationship Type="http://schemas.openxmlformats.org/officeDocument/2006/relationships/notesMaster" Target="/ppt/notesMasters/notesMaster1.xml" Id="R866b598a8d9146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e34cc4128a4183" /><Relationship Type="http://schemas.openxmlformats.org/officeDocument/2006/relationships/notesMaster" Target="/ppt/notesMasters/notesMaster1.xml" Id="Rf53350b372f741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ae24779e7473b" /><Relationship Type="http://schemas.openxmlformats.org/officeDocument/2006/relationships/notesMaster" Target="/ppt/notesMasters/notesMaster1.xml" Id="Rfe73ed965cc246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5e3c6646f4dad" /><Relationship Type="http://schemas.openxmlformats.org/officeDocument/2006/relationships/notesMaster" Target="/ppt/notesMasters/notesMaster1.xml" Id="Rd15fbbefe42b43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9d4a0cd9334da6" /><Relationship Type="http://schemas.openxmlformats.org/officeDocument/2006/relationships/notesMaster" Target="/ppt/notesMasters/notesMaster1.xml" Id="Rf3b6bf423932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1525b6b4454226" /><Relationship Type="http://schemas.openxmlformats.org/officeDocument/2006/relationships/notesMaster" Target="/ppt/notesMasters/notesMaster1.xml" Id="R8d6497abd73d48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075e9c5dad49e7" /><Relationship Type="http://schemas.openxmlformats.org/officeDocument/2006/relationships/notesMaster" Target="/ppt/notesMasters/notesMaster1.xml" Id="R0b4c0e7610d744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fbe14d3a0b4ae3" /><Relationship Type="http://schemas.openxmlformats.org/officeDocument/2006/relationships/notesMaster" Target="/ppt/notesMasters/notesMaster1.xml" Id="Ra36c1f053fd540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f7cad8a99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f63e0b4554d42" /><Relationship Type="http://schemas.openxmlformats.org/officeDocument/2006/relationships/slideLayout" Target="/ppt/slideLayouts/slideLayout1.xml" Id="R7f6b25ceba06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6b25ceba06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95f47fc2e46b1" /><Relationship Type="http://schemas.openxmlformats.org/officeDocument/2006/relationships/notesSlide" Target="/ppt/notesSlides/notesSlide1.xml" Id="R5d16daf7b26f43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a79bde3574cb3" /><Relationship Type="http://schemas.openxmlformats.org/officeDocument/2006/relationships/notesSlide" Target="/ppt/notesSlides/notesSlide2.xml" Id="Rff12351c4cc74b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30967de084976" /><Relationship Type="http://schemas.openxmlformats.org/officeDocument/2006/relationships/notesSlide" Target="/ppt/notesSlides/notesSlide3.xml" Id="R9fd4bbf3d0434c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cc1df529a4b51" /><Relationship Type="http://schemas.openxmlformats.org/officeDocument/2006/relationships/notesSlide" Target="/ppt/notesSlides/notesSlide4.xml" Id="R82a27a40b3ff44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0989f6b8f4f1e" /><Relationship Type="http://schemas.openxmlformats.org/officeDocument/2006/relationships/notesSlide" Target="/ppt/notesSlides/notesSlide5.xml" Id="Re7f31ec17ecf43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d027ce26d47e9" /><Relationship Type="http://schemas.openxmlformats.org/officeDocument/2006/relationships/notesSlide" Target="/ppt/notesSlides/notesSlide6.xml" Id="R541340271ba84d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72c6af18a450d" /><Relationship Type="http://schemas.openxmlformats.org/officeDocument/2006/relationships/notesSlide" Target="/ppt/notesSlides/notesSlide7.xml" Id="Rd08093afb73a40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d6ef695644759" /><Relationship Type="http://schemas.openxmlformats.org/officeDocument/2006/relationships/notesSlide" Target="/ppt/notesSlides/notesSlide8.xml" Id="Rcf5d044537ce4b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1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F358C-9660-4CFC-985C-5943690A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solidFill>
              <a:srgbClr val="1832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D588B-C240-4ED9-AF88-1B8F1BF1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324A"/>
                </a:solidFill>
              </a:defRPr>
            </a:pPr>
            <a:r>
              <a:rPr sz="4050" b="1">
                <a:solidFill>
                  <a:srgbClr val="18324A"/>
                </a:solidFill>
              </a:rPr>
              <a:t>Event Schedule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B02DF-11D9-48F2-B123-B0805B8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616D"/>
                </a:solidFill>
              </a:defRPr>
            </a:pPr>
            <a:r>
              <a:rPr sz="1875" b="0">
                <a:solidFill>
                  <a:srgbClr val="55616D"/>
                </a:solidFill>
              </a:rPr>
              <a:t>Training deck and operating overview for the final clean tested workbook.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F6F3A-5248-44A7-AFBE-38BE20E6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F6D05-1C23-4666-91E5-1E697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E74B5"/>
                </a:solidFill>
              </a:defRPr>
            </a:pPr>
            <a:r>
              <a:rPr sz="4350" b="1">
                <a:solidFill>
                  <a:srgbClr val="2E74B5"/>
                </a:solidFill>
              </a:rPr>
              <a:t>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F2613-B540-4E83-9C80-A37B4C7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33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Clean tested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A0E99-B844-4E37-9D8F-6FFB7143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A"/>
                </a:solidFill>
              </a:defRPr>
            </a:pPr>
            <a:r>
              <a:rPr sz="1650" b="0">
                <a:solidFill>
                  <a:srgbClr val="18324A"/>
                </a:solidFill>
              </a:rPr>
              <a:t>Daily schedule | Weekly calendar | Run of show | Printable views</a:t>
            </a:r>
          </a:p>
        </p:txBody>
      </p:sp>
    </p:spTree>
    <p:extLst>
      <p:ext uri="{BB962C8B-B14F-4D97-AF65-F5344CB8AC3E}">
        <p14:creationId xmlns:p14="http://schemas.microsoft.com/office/powerpoint/2010/main" val="1964341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E2F3E8-FC10-49D4-A100-CB2C5A4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11E05-1CC2-4F68-AEC6-45DB433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What the workbook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67171-05EE-4FA8-AE97-E3CF7124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80ACA-18B6-4DE1-BA08-41206207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One Data Input table drives every printable 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4835E-6138-49BC-BB3E-565BF7B2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CF46A-64B1-4C4D-80B3-CE131D38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C5736-0B46-4E1C-BF8F-987CFF5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05A8B-8D68-4D90-9C64-C2A0285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860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Enter event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E3896-1480-478C-B218-1C95167A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Use Data Input as the single source of truth.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F6FF3-FD97-476B-8201-2508729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7DD5B-C125-4647-B1E5-4D3B9BBB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046AA-8C93-473C-A663-F0826981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33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6C4E1-342C-4C80-AA0B-86EAAC12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Choose the right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3680C-C722-4EC2-BE61-2526AE4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Daily, weekly, location, sponsor, speaker, attendee, or run-of-show.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98534-562D-4100-BCFB-2AC571FF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FF3E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8C2F0-FD94-4177-97E9-5517BA08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A1699-146A-44FE-BA22-A34FE8D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33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9064E-BEF5-44D4-A08D-86199F1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Print or brief from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56F6E-7C70-45D2-B2CA-10EED561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Each view is built for quick reading by people on the move.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8E4EB-9C75-4E81-AD4C-C868B94D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364A8-7F64-4754-8C79-88F2B19C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Formula-driven views update when rows are added to the Excel 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176F1-D074-436E-AD03-0B86AB10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8CAB4-9FC7-47C3-8201-294CC3A1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TBD and all-day items are kept out of the hourly grid.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07457-749B-48BC-927B-06EDA8F8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204A8-E59F-418B-BDD9-7F085955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Schedule slots handle overlapping events across columns.</a:t>
            </a:r>
          </a:p>
        </p:txBody>
      </p:sp>
    </p:spTree>
    <p:extLst>
      <p:ext uri="{BB962C8B-B14F-4D97-AF65-F5344CB8AC3E}">
        <p14:creationId xmlns:p14="http://schemas.microsoft.com/office/powerpoint/2010/main" val="2026139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23FC1-19FA-4D12-9212-AFBB527F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4E5F3-D40A-4C4F-B625-13F327CC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Data Input is the source of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134CB-7244-49D5-87B8-5B50FCC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59CE3-BD9C-4F55-83B6-FFB2CD76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038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0E3B0-BE27-46D5-BE4E-761A02BD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A"/>
                </a:solidFill>
              </a:defRPr>
            </a:pPr>
            <a:r>
              <a:rPr sz="1725" b="0">
                <a:solidFill>
                  <a:srgbClr val="18324A"/>
                </a:solidFill>
              </a:rPr>
              <a:t>Enter one event per row. Keep dates, times, location, category, people, sponsors, and status as complete and consistent as possible.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0186C-4889-46C7-AD68-21A11974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50744-41B6-4007-94B7-06FBEE18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8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dropdowns from Reference for repeatable fields.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31D11-640D-46BD-B952-792FEDF2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32488-1F01-464D-A8E2-F788065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numeric start/end times for timed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5DA76-25A0-4D59-8CED-9065766E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3E7F0-B0D5-4396-BA52-A79F7858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TBD when the time is unknown.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52473-C871-4FAC-B1E9-0F63C7F7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B810D-9B32-4D8F-B75C-0E572FC8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All Day for true all-day items.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47FE6-5C39-47CD-8850-B81EEA7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D2320-5CAD-4436-854F-003103EA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67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comma-separated names for multiple speakers, attendees, or sponsors.</a:t>
            </a:r>
          </a:p>
        </p:txBody>
      </p:sp>
    </p:spTree>
    <p:extLst>
      <p:ext uri="{BB962C8B-B14F-4D97-AF65-F5344CB8AC3E}">
        <p14:creationId xmlns:p14="http://schemas.microsoft.com/office/powerpoint/2010/main" val="352111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3432F-E14F-43E0-9746-AE53416D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3FF43-F659-4D76-8A5B-4AC9D42E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Daily and weekly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744EE-FB6C-408F-BA13-988370B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2CF7B-050A-4C92-AEB2-E1259ABA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96721-8CCA-4F6E-A217-8C5678D3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24A"/>
                </a:solidFill>
              </a:defRPr>
            </a:pPr>
            <a:r>
              <a:rPr sz="2175" b="1">
                <a:solidFill>
                  <a:srgbClr val="18324A"/>
                </a:solidFill>
              </a:rPr>
              <a:t>Daily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48157-F778-4071-80B6-5A4AEC66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7F199-4F02-4EBE-B9BD-8226F0BD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71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One day at a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A410A-6E33-4DD9-91EF-DD914969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FA370-2774-43D1-BDB5-242A60D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Timed events in hourly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6D4EE-72C4-4683-A175-366E9EC3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8A1CD-9FD6-418B-96E7-35434F59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Overlaps move into slots 1, 2, 3...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ECFC7-2E49-43A7-B5B0-1A78B3A4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41D37-1846-4C90-A7F3-67700F0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TBD and all-day are separated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6D408-8971-4A45-918E-EE747978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A9365-B1DD-43E6-818C-455CD160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24A"/>
                </a:solidFill>
              </a:defRPr>
            </a:pPr>
            <a:r>
              <a:rPr sz="2175" b="1">
                <a:solidFill>
                  <a:srgbClr val="18324A"/>
                </a:solidFill>
              </a:rPr>
              <a:t>Weekly Calendar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66ABD-32FA-49A4-9EF2-B337862A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2DF8F-B9DA-4AF2-8A8B-BBCB9FF8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Formula-driven timed event 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AF18B-0563-4EF8-8F10-7A028CE1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40621-CB3C-4C10-98AC-3B22BE55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Use filters to narrow the week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313EE-5E2B-4EDD-ACEE-4C58AC45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36718-053F-4BEB-92DF-D639CA79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Cleaner printout for weekly planning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02ED9-8AFA-49C7-8081-E32051D6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A104B-9F30-41D8-A852-873A64E7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Replaces the older grid-style weekly tab</a:t>
            </a:r>
          </a:p>
        </p:txBody>
      </p:sp>
    </p:spTree>
    <p:extLst>
      <p:ext uri="{BB962C8B-B14F-4D97-AF65-F5344CB8AC3E}">
        <p14:creationId xmlns:p14="http://schemas.microsoft.com/office/powerpoint/2010/main" val="329463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5756C-AC54-4AE4-A942-01C78C6C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03B1E-9C36-4C56-B8CF-7A57FEF2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Run of Show is the minute-by-minute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430B2-6742-47AA-BC4D-47D5A008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DA697-5C60-4BF5-9228-F1ABBE43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16D"/>
                </a:solidFill>
              </a:defRPr>
            </a:pPr>
            <a:r>
              <a:rPr sz="1800" b="0">
                <a:solidFill>
                  <a:srgbClr val="55616D"/>
                </a:solidFill>
              </a:rPr>
              <a:t>Use it when an event needs operational detail beyond the calendar entry.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793A2-03E8-4ABE-8AB8-FB73D622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F492E-62EC-42A0-9301-1DE1D351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CB88D-9C9A-4511-9D9A-A64A3085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BB6D7-20B3-4457-8C7C-FAB444A5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76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Pick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2B962-66DB-4DD2-BACE-88D814EE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194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Start with the room or event 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850C2-748D-42E7-8FA4-A5F325D5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073F2-54FB-4B30-9096-2F801EC8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96AFA-BE74-423D-8BE3-D6491384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1F3BD-D0BA-4FEA-A685-CF6510A8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Pick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6E59B-279F-42BC-9D73-7291A0FB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194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The dropdown narrows to timed events at that location.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9DCED-7F92-4D70-8FE0-8B640D70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FF3E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89432-3932-40B5-A2AE-3B53E899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646CE-B1CC-4DD6-B058-37AAD7C4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65AA1-2BBA-4A21-A491-08EE29DB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76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Fill the rundown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B4C07-E9EF-4416-91A4-61296204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D"/>
                </a:solidFill>
              </a:defRPr>
            </a:pPr>
            <a:r>
              <a:rPr sz="1275" b="0">
                <a:solidFill>
                  <a:srgbClr val="55616D"/>
                </a:solidFill>
              </a:rPr>
              <a:t>Add speaker, cue, tech, transition, and notes by minute.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19C8C-B9D7-4C9A-9FC7-D4A9B94E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0659F-E0BD-40D5-A3B1-27084142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720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Best use: stage cues, speaker timing, AV notes, handoffs, and day-of execution notes.</a:t>
            </a:r>
          </a:p>
        </p:txBody>
      </p:sp>
    </p:spTree>
    <p:extLst>
      <p:ext uri="{BB962C8B-B14F-4D97-AF65-F5344CB8AC3E}">
        <p14:creationId xmlns:p14="http://schemas.microsoft.com/office/powerpoint/2010/main" val="958937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9639B-7FB6-4C38-BB70-A0C76359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01A78-49E3-4265-A3A4-70D157A6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Printable summary tabs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DC2B7-43F7-4CE6-8AFB-05E195B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2B1E7-F402-437D-84C4-C71C1D7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2446F-046F-4D9D-A288-4BAAB259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Location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15E06-44AB-4EB5-827A-10BAC4CD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24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See when each space is busy.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32C55-7EE0-4C8B-AC90-41E8867B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D543A-99A2-47A6-9634-0C9CEA45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95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Sponsors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FD86C-E019-468B-8B2B-83849012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Events with sponsor entries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A81A4-60AC-4935-AEA9-D6D6912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AC8F4-C8AE-48F3-8F90-D9A33282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76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Speakers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E672F-B363-4D96-B883-270C343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861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Events with speaker entries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E4D86-CCDF-4685-BDF4-77E228F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7998F-5938-46DD-9330-4AA40593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Required Attendees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E66A0-233B-48F9-95B5-82398032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672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Who needs to be where.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36FAE-5A3D-4902-9216-BB89B4B4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971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47028-B368-4D82-B55C-9DD2F1F3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Instructions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5EFC2-B65B-41E5-8EB3-0AC93911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482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Plain-language workbook guide.</a:t>
            </a:r>
          </a:p>
        </p:txBody>
      </p:sp>
    </p:spTree>
    <p:extLst>
      <p:ext uri="{BB962C8B-B14F-4D97-AF65-F5344CB8AC3E}">
        <p14:creationId xmlns:p14="http://schemas.microsoft.com/office/powerpoint/2010/main" val="473575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9972B-BB91-46A3-90BB-8004CC7A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EVENT SCHEDULE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CF2A2-1FB9-4F0E-92E6-1A69EC8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Before distributing a new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C3C4B-55BE-4F8E-B552-FCE4D961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F2EAE-DA73-49ED-9757-BCBEDB18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C9985-C860-449C-8110-740C180F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43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Save a new version; never overwrite the prior working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80CBE-6EB0-4CE9-BEBF-D4784B5A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563BD-69F3-4C9C-B6A7-DFB1F706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a test category on Reference and use it in Data Input.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8AB2D-6870-4807-88F6-70B0895B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9B1EA-1A50-411E-AAF1-0D3C955C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overlapping timed events and confirm slots 1, 2, and 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BD23A-D788-4DCD-9EAB-D8F2ADDD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83B1A-B3D9-4C59-A344-CC3F1A4A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a TBD event and confirm it appears once in the TBD row.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5FB0D-4424-4A2A-9A00-14A7C22A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953B0-EB94-4E26-BC3C-64E88D7A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an all-day event and confirm it appears once in All-Day Events.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298F0-1065-45BB-98DC-822776A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DDBE0-5C3B-44C3-8DF4-74D20DFF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Reopen the file and check Daily Schedule, Weekly Calendar, Run of Show, and summary tabs.</a:t>
            </a:r>
          </a:p>
        </p:txBody>
      </p:sp>
    </p:spTree>
    <p:extLst>
      <p:ext uri="{BB962C8B-B14F-4D97-AF65-F5344CB8AC3E}">
        <p14:creationId xmlns:p14="http://schemas.microsoft.com/office/powerpoint/2010/main" val="602157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E4CA6E-2369-40E2-9F78-F44336A7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Operating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C2F44-14D2-4FF7-9871-B5745FC9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Data Input is the source of truth. Everything else is a 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FDC53-8EDF-4471-B39F-AB37F301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914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44962"/>
          </a:solidFill>
          <a:ln xmlns:a="http://schemas.openxmlformats.org/drawingml/2006/main" w="9525">
            <a:solidFill>
              <a:srgbClr val="3D65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8A99A-442E-49A3-B37D-3E85509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76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When something looks wrong, check the row first: date, start time, end time, event name, location, category, class, and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8B955-5853-4F6D-9937-BD76A124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7D6"/>
                </a:solidFill>
              </a:defRPr>
            </a:pPr>
            <a:r>
              <a:rPr sz="1425" b="0">
                <a:solidFill>
                  <a:srgbClr val="B7C7D6"/>
                </a:solidFill>
              </a:rPr>
              <a:t>Final clean tested template</a:t>
            </a:r>
          </a:p>
        </p:txBody>
      </p:sp>
    </p:spTree>
    <p:extLst>
      <p:ext uri="{BB962C8B-B14F-4D97-AF65-F5344CB8AC3E}">
        <p14:creationId xmlns:p14="http://schemas.microsoft.com/office/powerpoint/2010/main" val="164267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2026-06-23T12:50:23.8690000Z</dcterms:created>
  <dcterms:modified xsi:type="dcterms:W3CDTF">2026-06-23T12:50:23.8690000Z</dcterms:modified>
</coreProperties>
</file>